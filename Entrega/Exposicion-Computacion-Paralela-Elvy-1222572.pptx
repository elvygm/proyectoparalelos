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15aba7e0c44fa" /><Relationship Type="http://schemas.openxmlformats.org/officeDocument/2006/relationships/extended-properties" Target="/docProps/app.xml" Id="R198adc916b0b49cd" /><Relationship Type="http://schemas.openxmlformats.org/officeDocument/2006/relationships/officeDocument" Target="/ppt/presentation.xml" Id="R7a9b1fc357ab4c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7d8d0b5104189"/>
  </p:sldMasterIdLst>
  <p:notesMasterIdLst>
    <p:notesMasterId xmlns:r="http://schemas.openxmlformats.org/officeDocument/2006/relationships" r:id="R465bc0911d1d4d86"/>
  </p:notesMasterIdLst>
  <p:sldIdLst>
    <p:sldId xmlns:r="http://schemas.openxmlformats.org/officeDocument/2006/relationships" id="256" r:id="R85a42145b81346f1"/>
    <p:sldId xmlns:r="http://schemas.openxmlformats.org/officeDocument/2006/relationships" id="257" r:id="R36e522f2f6a642f1"/>
    <p:sldId xmlns:r="http://schemas.openxmlformats.org/officeDocument/2006/relationships" id="258" r:id="R1b9eb88883ad45b9"/>
    <p:sldId xmlns:r="http://schemas.openxmlformats.org/officeDocument/2006/relationships" id="259" r:id="R59b1ecfeaa314f48"/>
    <p:sldId xmlns:r="http://schemas.openxmlformats.org/officeDocument/2006/relationships" id="260" r:id="R0bfb8005ef4846da"/>
    <p:sldId xmlns:r="http://schemas.openxmlformats.org/officeDocument/2006/relationships" id="261" r:id="R39f9d4db13da44e8"/>
    <p:sldId xmlns:r="http://schemas.openxmlformats.org/officeDocument/2006/relationships" id="262" r:id="R2eaec14e7dd14b77"/>
    <p:sldId xmlns:r="http://schemas.openxmlformats.org/officeDocument/2006/relationships" id="263" r:id="Re34819d542df477b"/>
    <p:sldId xmlns:r="http://schemas.openxmlformats.org/officeDocument/2006/relationships" id="264" r:id="Rfc5e65ff6dbf40bb"/>
    <p:sldId xmlns:r="http://schemas.openxmlformats.org/officeDocument/2006/relationships" id="265" r:id="Rb00cc8822db844f9"/>
    <p:sldId xmlns:r="http://schemas.openxmlformats.org/officeDocument/2006/relationships" id="266" r:id="R9c2083a93e0c43dd"/>
    <p:sldId xmlns:r="http://schemas.openxmlformats.org/officeDocument/2006/relationships" id="267" r:id="R52735e1d3b474292"/>
    <p:sldId xmlns:r="http://schemas.openxmlformats.org/officeDocument/2006/relationships" id="268" r:id="R759a554425b8442e"/>
    <p:sldId xmlns:r="http://schemas.openxmlformats.org/officeDocument/2006/relationships" id="269" r:id="R98b86efd2a094a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4918806514412" /><Relationship Type="http://schemas.openxmlformats.org/officeDocument/2006/relationships/slideMaster" Target="/ppt/slideMasters/slideMaster1.xml" Id="Re967d8d0b5104189" /><Relationship Type="http://schemas.openxmlformats.org/officeDocument/2006/relationships/notesMaster" Target="/ppt/notesMasters/notesMaster1.xml" Id="R465bc0911d1d4d86" /><Relationship Type="http://schemas.openxmlformats.org/officeDocument/2006/relationships/presProps" Target="/ppt/presProps.xml" Id="Re48e964a7b6f416c" /><Relationship Type="http://schemas.openxmlformats.org/officeDocument/2006/relationships/tableStyles" Target="/ppt/tableStyles.xml" Id="Rf7973a5616fc4da4" /><Relationship Type="http://schemas.openxmlformats.org/officeDocument/2006/relationships/slide" Target="/ppt/slides/slide1.xml" Id="R85a42145b81346f1" /><Relationship Type="http://schemas.openxmlformats.org/officeDocument/2006/relationships/slide" Target="/ppt/slides/slide2.xml" Id="R36e522f2f6a642f1" /><Relationship Type="http://schemas.openxmlformats.org/officeDocument/2006/relationships/slide" Target="/ppt/slides/slide3.xml" Id="R1b9eb88883ad45b9" /><Relationship Type="http://schemas.openxmlformats.org/officeDocument/2006/relationships/slide" Target="/ppt/slides/slide4.xml" Id="R59b1ecfeaa314f48" /><Relationship Type="http://schemas.openxmlformats.org/officeDocument/2006/relationships/slide" Target="/ppt/slides/slide5.xml" Id="R0bfb8005ef4846da" /><Relationship Type="http://schemas.openxmlformats.org/officeDocument/2006/relationships/slide" Target="/ppt/slides/slide6.xml" Id="R39f9d4db13da44e8" /><Relationship Type="http://schemas.openxmlformats.org/officeDocument/2006/relationships/slide" Target="/ppt/slides/slide7.xml" Id="R2eaec14e7dd14b77" /><Relationship Type="http://schemas.openxmlformats.org/officeDocument/2006/relationships/slide" Target="/ppt/slides/slide8.xml" Id="Re34819d542df477b" /><Relationship Type="http://schemas.openxmlformats.org/officeDocument/2006/relationships/slide" Target="/ppt/slides/slide9.xml" Id="Rfc5e65ff6dbf40bb" /><Relationship Type="http://schemas.openxmlformats.org/officeDocument/2006/relationships/slide" Target="/ppt/slides/slide10.xml" Id="Rb00cc8822db844f9" /><Relationship Type="http://schemas.openxmlformats.org/officeDocument/2006/relationships/slide" Target="/ppt/slides/slide11.xml" Id="R9c2083a93e0c43dd" /><Relationship Type="http://schemas.openxmlformats.org/officeDocument/2006/relationships/slide" Target="/ppt/slides/slide12.xml" Id="R52735e1d3b474292" /><Relationship Type="http://schemas.openxmlformats.org/officeDocument/2006/relationships/slide" Target="/ppt/slides/slide13.xml" Id="R759a554425b8442e" /><Relationship Type="http://schemas.openxmlformats.org/officeDocument/2006/relationships/slide" Target="/ppt/slides/slide14.xml" Id="R98b86efd2a09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e338e9c01c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c8b94a0cb40c3" /><Relationship Type="http://schemas.openxmlformats.org/officeDocument/2006/relationships/notesMaster" Target="/ppt/notesMasters/notesMaster1.xml" Id="R00bb6e378333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44a35f56cb4443" /><Relationship Type="http://schemas.openxmlformats.org/officeDocument/2006/relationships/notesMaster" Target="/ppt/notesMasters/notesMaster1.xml" Id="Rae65954b505f49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ab8bfe88754db7" /><Relationship Type="http://schemas.openxmlformats.org/officeDocument/2006/relationships/notesMaster" Target="/ppt/notesMasters/notesMaster1.xml" Id="Rf27db763d9c7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fe091a91d4724" /><Relationship Type="http://schemas.openxmlformats.org/officeDocument/2006/relationships/notesMaster" Target="/ppt/notesMasters/notesMaster1.xml" Id="R315e139db617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98ae9c3e8b48bf" /><Relationship Type="http://schemas.openxmlformats.org/officeDocument/2006/relationships/notesMaster" Target="/ppt/notesMasters/notesMaster1.xml" Id="Rcf1e3fc7a474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cbdbbb5d8c4408" /><Relationship Type="http://schemas.openxmlformats.org/officeDocument/2006/relationships/notesMaster" Target="/ppt/notesMasters/notesMaster1.xml" Id="Rd77af841f0cc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9d3a576f9f4a97" /><Relationship Type="http://schemas.openxmlformats.org/officeDocument/2006/relationships/notesMaster" Target="/ppt/notesMasters/notesMaster1.xml" Id="Rdb481635027649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ab6ca1aa784d87" /><Relationship Type="http://schemas.openxmlformats.org/officeDocument/2006/relationships/notesMaster" Target="/ppt/notesMasters/notesMaster1.xml" Id="R34a6c193365148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7c9e040204d56" /><Relationship Type="http://schemas.openxmlformats.org/officeDocument/2006/relationships/notesMaster" Target="/ppt/notesMasters/notesMaster1.xml" Id="Re330e49d9c544c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2bda345ff1427a" /><Relationship Type="http://schemas.openxmlformats.org/officeDocument/2006/relationships/notesMaster" Target="/ppt/notesMasters/notesMaster1.xml" Id="Ra3e46bfeffbd4e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8c488c672d4c04" /><Relationship Type="http://schemas.openxmlformats.org/officeDocument/2006/relationships/notesMaster" Target="/ppt/notesMasters/notesMaster1.xml" Id="Ree824cc73bef46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3717513db44be4" /><Relationship Type="http://schemas.openxmlformats.org/officeDocument/2006/relationships/notesMaster" Target="/ppt/notesMasters/notesMaster1.xml" Id="Rf3bfbaf4522846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268c2b9d104559" /><Relationship Type="http://schemas.openxmlformats.org/officeDocument/2006/relationships/notesMaster" Target="/ppt/notesMasters/notesMaster1.xml" Id="R2bcfb15b152e40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7571ca9ee74bc3" /><Relationship Type="http://schemas.openxmlformats.org/officeDocument/2006/relationships/notesMaster" Target="/ppt/notesMasters/notesMaster1.xml" Id="Rf73e167ce302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7ce62883f42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95f7d6b3948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cdf166ad7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86480081e49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1f4f0787d4e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2a67c37d8345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6199E7-04A8-4E14-AE9D-600C49107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362390-2B92-46DB-B221-485CD38B24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B3ADF9-4FDC-475A-9AB0-A27538105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84CA1F-5D1E-444C-A905-91576DD0FE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83011A-427B-4CF4-9916-9E794CA5C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C448A2-C438-466C-B228-A6F71C57C9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1C7BA9-F731-4B1F-A429-E8F32543A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DEFB7E-ED26-44F7-8EF8-3477B7B8D8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8EDA30-B8FB-4BF8-B748-22DCAD8E6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D8D8D1-5390-4033-8986-142307FD3A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96c60cfea4d4e" /><Relationship Type="http://schemas.openxmlformats.org/officeDocument/2006/relationships/slideLayout" Target="/ppt/slideLayouts/slideLayout1.xml" Id="Rcd7199a903fb4209" /><Relationship Type="http://schemas.openxmlformats.org/officeDocument/2006/relationships/slideLayout" Target="/ppt/slideLayouts/slideLayout2.xml" Id="R25959716fb4c4776" /><Relationship Type="http://schemas.openxmlformats.org/officeDocument/2006/relationships/slideLayout" Target="/ppt/slideLayouts/slideLayout3.xml" Id="Ra254e72eaf714c4c" /><Relationship Type="http://schemas.openxmlformats.org/officeDocument/2006/relationships/slideLayout" Target="/ppt/slideLayouts/slideLayout4.xml" Id="R9e309a6fab974ae4" /><Relationship Type="http://schemas.openxmlformats.org/officeDocument/2006/relationships/slideLayout" Target="/ppt/slideLayouts/slideLayout5.xml" Id="Rb89e55c3eb3f40fb" /><Relationship Type="http://schemas.openxmlformats.org/officeDocument/2006/relationships/slideLayout" Target="/ppt/slideLayouts/slideLayout6.xml" Id="R50184cc034d84d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199a903fb4209"/>
    <p:sldLayoutId xmlns:r="http://schemas.openxmlformats.org/officeDocument/2006/relationships" id="2147483650" r:id="R25959716fb4c4776"/>
    <p:sldLayoutId xmlns:r="http://schemas.openxmlformats.org/officeDocument/2006/relationships" id="2147483651" r:id="Ra254e72eaf714c4c"/>
    <p:sldLayoutId xmlns:r="http://schemas.openxmlformats.org/officeDocument/2006/relationships" id="2147483652" r:id="R9e309a6fab974ae4"/>
    <p:sldLayoutId xmlns:r="http://schemas.openxmlformats.org/officeDocument/2006/relationships" id="2147483653" r:id="Rb89e55c3eb3f40fb"/>
    <p:sldLayoutId xmlns:r="http://schemas.openxmlformats.org/officeDocument/2006/relationships" id="2147483654" r:id="R50184cc034d84d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1678a2dbc4a16" /><Relationship Type="http://schemas.openxmlformats.org/officeDocument/2006/relationships/notesSlide" Target="/ppt/notesSlides/notesSlide1.xml" Id="Rffa0fb2ece9e4d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0965ce50640a3" /><Relationship Type="http://schemas.openxmlformats.org/officeDocument/2006/relationships/notesSlide" Target="/ppt/notesSlides/notesSlide2.xml" Id="Re0704f760e0d47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cfe8cba714633" /><Relationship Type="http://schemas.openxmlformats.org/officeDocument/2006/relationships/notesSlide" Target="/ppt/notesSlides/notesSlide3.xml" Id="Rb408a37fdc5b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0704ea0b04243" /><Relationship Type="http://schemas.openxmlformats.org/officeDocument/2006/relationships/notesSlide" Target="/ppt/notesSlides/notesSlide4.xml" Id="Rc19ddab6b57e43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db8529c484910" /><Relationship Type="http://schemas.openxmlformats.org/officeDocument/2006/relationships/notesSlide" Target="/ppt/notesSlides/notesSlide5.xml" Id="Rdbfa4931e4fc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c82cf4d5d456c" /><Relationship Type="http://schemas.openxmlformats.org/officeDocument/2006/relationships/notesSlide" Target="/ppt/notesSlides/notesSlide6.xml" Id="R580ca3303dfd4a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f327f9793457c" /><Relationship Type="http://schemas.openxmlformats.org/officeDocument/2006/relationships/notesSlide" Target="/ppt/notesSlides/notesSlide7.xml" Id="Rfb3b854db9d44c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bec7afb6e4583" /><Relationship Type="http://schemas.openxmlformats.org/officeDocument/2006/relationships/notesSlide" Target="/ppt/notesSlides/notesSlide8.xml" Id="R663138210e25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1812a8b3b48de" /><Relationship Type="http://schemas.openxmlformats.org/officeDocument/2006/relationships/notesSlide" Target="/ppt/notesSlides/notesSlide9.xml" Id="R908b17415fc041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4a4a277c749d6" /><Relationship Type="http://schemas.openxmlformats.org/officeDocument/2006/relationships/notesSlide" Target="/ppt/notesSlides/notesSlide10.xml" Id="Rde828759c17a4b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6fe39441434860" /><Relationship Type="http://schemas.openxmlformats.org/officeDocument/2006/relationships/notesSlide" Target="/ppt/notesSlides/notesSlide11.xml" Id="Rca69408862df49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b010fd88c4354" /><Relationship Type="http://schemas.openxmlformats.org/officeDocument/2006/relationships/notesSlide" Target="/ppt/notesSlides/notesSlide12.xml" Id="Rbfeb1f7f22f341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73766cfbd4854" /><Relationship Type="http://schemas.openxmlformats.org/officeDocument/2006/relationships/notesSlide" Target="/ppt/notesSlides/notesSlide13.xml" Id="R7b235746de5b41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fe213e09243e5" /><Relationship Type="http://schemas.openxmlformats.org/officeDocument/2006/relationships/notesSlide" Target="/ppt/notesSlides/notesSlide14.xml" Id="R1638166eef1e44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9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77AD-7D42-4859-892A-639D499A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762000"/>
            <a:ext cx="5715000" cy="571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A8835-2B3B-401A-A606-21A63389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33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B14DD-5AD0-41ED-9731-D96D3BCC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Computación paralela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y plataformas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E4578-92A2-4068-9C78-803885DD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CE5FF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CE5FF"/>
                </a:solidFill>
              </a:defRPr>
            </a:pPr>
            <a:r>
              <a:rPr sz="1800" b="0">
                <a:solidFill>
                  <a:srgbClr val="DCE5FF"/>
                </a:solidFill>
              </a:rPr>
              <a:t>Investigación, actividad práctica y caso UserFlow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38AB3-4466-4B99-A450-0924F09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7C85B-0ABA-491A-A542-FCFFD0EC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ELVY ANTONIO GRULLÓN MOREL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32A4C-AB76-4D74-9F5C-58A481FD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CE5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5FF"/>
                </a:solidFill>
              </a:defRPr>
            </a:pPr>
            <a:r>
              <a:rPr sz="1350" b="0">
                <a:solidFill>
                  <a:srgbClr val="DCE5FF"/>
                </a:solidFill>
              </a:rPr>
              <a:t>Matrícula 1222572</a:t>
            </a:r>
          </a:p>
        </p:txBody>
      </p:sp>
    </p:spTree>
    <p:extLst>
      <p:ext uri="{BB962C8B-B14F-4D97-AF65-F5344CB8AC3E}">
        <p14:creationId xmlns:p14="http://schemas.microsoft.com/office/powerpoint/2010/main" val="1295189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A04A1-62DC-4243-B85C-3C9A401C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14940-52B8-4712-9848-E2F4CCE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Mapa de la exposición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05881-4EC6-4302-83CA-287C1E6E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374E7-6BF8-43B9-9FFE-5A38D47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E093A-5908-4EC1-9121-BD9D069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A751C-C048-471F-8A3B-DB49393E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57F10-1356-4106-889F-32E3DE9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Algoritmos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CE048-911C-4CEC-BB16-19699A3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Árboles, Pointer Jumping, divide y vencerás y particionamiento.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D067B-0D56-4B65-BC14-CB8AB59A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D55AA-C7E7-4333-8525-4C1E817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0E246-4BE7-4F98-BBFF-A89F8DF3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002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1A7B8"/>
                </a:solidFill>
              </a:defRPr>
            </a:pPr>
            <a:r>
              <a:rPr sz="1650" b="1">
                <a:solidFill>
                  <a:srgbClr val="21A7B8"/>
                </a:solidFill>
              </a:rPr>
              <a:t>Ejecución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EBA49-21AC-42A5-B80F-3AE46B1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Pipelining, aceleramiento en cascada y sistema operativo.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C4E7D-05BE-4C0C-B2D4-89F70B26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00186-959B-41AE-BBD4-B867156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62951-5452-4D86-A187-E56F3C8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0B44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0B44D"/>
                </a:solidFill>
              </a:defRPr>
            </a:pPr>
            <a:r>
              <a:rPr sz="1650" b="1">
                <a:solidFill>
                  <a:srgbClr val="F0B44D"/>
                </a:solidFill>
              </a:rPr>
              <a:t>Coordinación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6762B-DE18-4F88-B7A9-42AE57E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93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Symmetry Breaking, cluster, balanceo y procesadores de tareas.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47D94-EA19-415D-9073-F6BEEB0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29000"/>
            <a:ext cx="714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E748E-46CB-435E-93B9-B128834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29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CD261-8192-4DC0-9016-72A8918B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00450"/>
            <a:ext cx="674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A36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A36B"/>
                </a:solidFill>
              </a:defRPr>
            </a:pPr>
            <a:r>
              <a:rPr sz="1650" b="1">
                <a:solidFill>
                  <a:srgbClr val="2FA36B"/>
                </a:solidFill>
              </a:rPr>
              <a:t>Plataforma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B49A2-2ADA-4529-865D-9DB16633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81450"/>
            <a:ext cx="6743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Nexus, repositorios de imágenes, Pub/Sub y GitHub Actions.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44F99-A43E-433F-9853-FA499A83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295B"/>
                </a:solidFill>
              </a:defRPr>
            </a:pPr>
            <a:r>
              <a:rPr sz="1800" b="1">
                <a:solidFill>
                  <a:srgbClr val="15295B"/>
                </a:solidFill>
              </a:rPr>
              <a:t>Pregunta guía: ¿cómo repartimos, coordinamos y desplegamos trabajo sin perder control?</a:t>
            </a:r>
          </a:p>
        </p:txBody>
      </p:sp>
    </p:spTree>
    <p:extLst>
      <p:ext uri="{BB962C8B-B14F-4D97-AF65-F5344CB8AC3E}">
        <p14:creationId xmlns:p14="http://schemas.microsoft.com/office/powerpoint/2010/main" val="1136287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23D69E-A9CB-4E43-A1C7-45FD786E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5BC5-798C-4D79-9040-160FE866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Estructuras que reducen recorridos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D1097-BBC4-43E7-88F7-06627798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E12AF-097E-48C2-A35C-B8C2D694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05DCE-D925-4F7E-A6CD-F74695B1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C5CCF"/>
                </a:solidFill>
              </a:defRPr>
            </a:pPr>
            <a:r>
              <a:rPr sz="1950" b="1">
                <a:solidFill>
                  <a:srgbClr val="3C5CCF"/>
                </a:solidFill>
              </a:rPr>
              <a:t>Árbol balanceado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6C53E-485F-4B42-A7CF-7246CA6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AE511-9193-4E1B-BACB-F49DE825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24631-D388-4046-ADA5-C414F88B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63B6E-5ABD-4396-8D83-8AD7849E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D1BB9-212F-4094-9FC9-0D41340C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10BDC-DC33-480E-B23B-130FB28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D7969-4BE1-4D45-8D05-1A1ECE6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0B045-AB02-408B-98A4-5916E9D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E55BA-BF17-4CFE-A5AE-220E9EC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DB152-94AE-4B20-8336-D527B79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62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627FE-20A5-4EDE-9C90-4AC755F5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C63F1-78D8-4FCB-B98C-3FA8DB86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E3AE5-F291-47DC-9633-2215CC8F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086D4-A06A-4FFC-BB9E-CE9E491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1FDE4-2E34-4BB7-B5B3-BF632277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Altura controlada: búsqueda O(log 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EF898-1277-45DD-BC4E-B0F692F5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1A7B8"/>
                </a:solidFill>
              </a:defRPr>
            </a:pPr>
            <a:r>
              <a:rPr sz="1950" b="1">
                <a:solidFill>
                  <a:srgbClr val="21A7B8"/>
                </a:solidFill>
              </a:rPr>
              <a:t>Pointer Jumping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5ADCD-1678-4D2B-95E7-70627E54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613DB-E092-4CB9-AA41-D2036AAF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5A72C-D5F2-43BD-8FAE-4163B29C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58E83-F150-4F66-B78A-E78385E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3DB10-B36A-4432-A878-518C269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FB968-D00C-4E0B-8295-A4281C82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295B"/>
                </a:solidFill>
              </a:defRPr>
            </a:pPr>
            <a:r>
              <a:rPr sz="1500" b="1">
                <a:solidFill>
                  <a:srgbClr val="15295B"/>
                </a:solidFill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74F72-6187-4D69-922B-9B248F68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7382A-BEEE-427E-B0FB-741FBD10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76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EF46A7-11F0-463A-A4AD-9FC32D51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475"/>
                </a:solidFill>
              </a:defRPr>
            </a:pPr>
            <a:r>
              <a:rPr sz="1575" b="0">
                <a:solidFill>
                  <a:srgbClr val="5B6475"/>
                </a:solidFill>
              </a:rPr>
              <a:t>Cada ronda duplica la distancia del salto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CAA16-C724-4497-85FE-72EF8E60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295B"/>
                </a:solidFill>
              </a:defRPr>
            </a:pPr>
            <a:r>
              <a:rPr sz="1650" b="1">
                <a:solidFill>
                  <a:srgbClr val="15295B"/>
                </a:solidFill>
              </a:rPr>
              <a:t>Aplicación: índices, jerarquías y búsqueda de raíces</a:t>
            </a:r>
          </a:p>
        </p:txBody>
      </p:sp>
    </p:spTree>
    <p:extLst>
      <p:ext uri="{BB962C8B-B14F-4D97-AF65-F5344CB8AC3E}">
        <p14:creationId xmlns:p14="http://schemas.microsoft.com/office/powerpoint/2010/main" val="1294913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3C4BC-B277-4DED-9A24-BBE477F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FF5E-1497-4B63-A53F-0E4FD8B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Dividir el problema y repartir el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498FF-9B37-4911-966D-A184EB44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A97EA-4B43-4734-95C0-423AC48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3F219-DD54-41A3-8D7B-83770EA5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295B"/>
                </a:solidFill>
              </a:defRPr>
            </a:pPr>
            <a:r>
              <a:rPr sz="1725" b="1">
                <a:solidFill>
                  <a:srgbClr val="15295B"/>
                </a:solidFill>
              </a:rPr>
              <a:t>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531D4-8EF0-4CCE-9F98-8CF58493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3803E-CE1D-499F-97AB-AF326889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10 archivos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2903B-CD86-48EA-8096-36071A9D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E3CD6-FBFD-4817-9BAF-35F9480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Grupo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A8B0A-9849-4661-AE39-7D5B6E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00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AB056-5257-4F65-A802-98143C9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Grupo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FDEF0-7957-468B-B81A-1A2A8F0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CD148-30DA-441C-80C8-8A102E3E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Grupo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1FE95-4982-449A-8C76-A4D2CD9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955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44C80-7544-402E-9021-BCE8D3F0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F3748-B212-4C5C-B00B-08DBE457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4619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36D73-CFFC-4973-8A9E-DB4F3882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6A8AF1-E7B9-4EDA-B66E-E3C8FD94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81450"/>
            <a:ext cx="421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Divide y vencerás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1A072-76F9-421A-85AF-D0C2072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62450"/>
            <a:ext cx="4219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Resuelve subproblemas independientes y combina sus respuestas.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7201C-AF3A-4883-BD9B-78A725D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619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9516E-624D-4CF8-9CDE-9DAC535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8714F-33B3-4098-9E18-EC2A7F2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4219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1A7B8"/>
                </a:solidFill>
              </a:defRPr>
            </a:pPr>
            <a:r>
              <a:rPr sz="1650" b="1">
                <a:solidFill>
                  <a:srgbClr val="21A7B8"/>
                </a:solidFill>
              </a:rPr>
              <a:t>Particionamiento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9C35C-51C9-4DF2-9AF6-F831C9A6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219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Distribuye datos por bloques, rangos, ciclos o hash.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68EEC-7C38-4E16-A7F1-964A6FE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B6475"/>
                </a:solidFill>
              </a:defRPr>
            </a:pPr>
            <a:r>
              <a:rPr sz="1575" b="1">
                <a:solidFill>
                  <a:srgbClr val="5B6475"/>
                </a:solidFill>
              </a:rPr>
              <a:t>Riesgo común: una partición muy pesada deja recursos esperando</a:t>
            </a:r>
          </a:p>
        </p:txBody>
      </p:sp>
    </p:spTree>
    <p:extLst>
      <p:ext uri="{BB962C8B-B14F-4D97-AF65-F5344CB8AC3E}">
        <p14:creationId xmlns:p14="http://schemas.microsoft.com/office/powerpoint/2010/main" val="1721273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81B0E-5EB8-4030-9F13-8FCD8B85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8A303-83B6-4DD2-88D6-230D8012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Pipelining y aceleramiento en cascada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2CFBE-5ACD-4504-B3C8-894C9DD8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A8CB1-2579-4F03-84D6-B403414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1859A-48EF-46DC-B187-FEB75E2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A7B59-B538-42FB-B9ED-B8111DF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B7B1A-AD63-4739-85D4-77494DC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809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57332-236A-4BA0-8080-95212199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13F86-4290-4CEE-9161-91F1569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809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8BEC5-385E-41F7-8A11-A5E3D74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58635-959C-4321-89DE-8ABBE7CF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09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5CA9D-862B-4F39-A40D-00FD001E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Terraform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51382-5627-4497-8F75-727C99F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809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838CF-B5D7-4F90-85CF-D5292A22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00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Cloud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D5250-7163-4CDF-8704-AA26FE17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295B"/>
                </a:solidFill>
              </a:defRPr>
            </a:pPr>
            <a:r>
              <a:rPr sz="1725" b="1">
                <a:solidFill>
                  <a:srgbClr val="15295B"/>
                </a:solidFill>
              </a:rPr>
              <a:t>El pipeline solapa y ordena etapas. La etapa más lenta limita el ritmo.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22460-2E66-4774-B1F9-3C0BBE0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3813C-F3E9-4C1D-BF7F-EDBAD8B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25D93-074F-49D8-854F-66A2FE4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0B44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0B44D"/>
                </a:solidFill>
              </a:defRPr>
            </a:pPr>
            <a:r>
              <a:rPr sz="1650" b="1">
                <a:solidFill>
                  <a:srgbClr val="F0B44D"/>
                </a:solidFill>
              </a:rPr>
              <a:t>Cascada de mejoras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97D89-A699-430A-9B52-119B56B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Algoritmo, concurrencia, caché, red y escalado pueden reforzarse.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3B456-1203-4216-95F6-D9DFD5C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ADD06-E416-48C3-BDA4-2D09985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64F65-DBA8-4B16-B58C-0502D10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Límite 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FEC9D-6F56-4995-B0C7-99C128E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5295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La parte secuencial y la coordinación reducen el aceleramiento ideal.</a:t>
            </a:r>
          </a:p>
        </p:txBody>
      </p:sp>
    </p:spTree>
    <p:extLst>
      <p:ext uri="{BB962C8B-B14F-4D97-AF65-F5344CB8AC3E}">
        <p14:creationId xmlns:p14="http://schemas.microsoft.com/office/powerpoint/2010/main" val="123975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D2486-4C85-44F7-86AF-9F6DC84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EF78D-4A48-4890-9F81-17D2E7E9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Symmetry Breaking evita decisiones idénticas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2E4AF-B36F-4270-840A-155D22C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2F6F1-901A-4EB0-84E8-67A4380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2655B-65CA-49CD-8B95-5EB819FE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95B"/>
                </a:solidFill>
              </a:defRPr>
            </a:pPr>
            <a:r>
              <a:rPr sz="1875" b="1">
                <a:solidFill>
                  <a:srgbClr val="15295B"/>
                </a:solidFill>
              </a:rPr>
              <a:t>Sin diferencia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7D12E-714A-4F61-BB1F-43B52E0B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78403-372E-4A11-9458-B2528F2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C5CCF"/>
                </a:solidFill>
              </a:defRPr>
            </a:pPr>
            <a:r>
              <a:rPr sz="1875" b="1">
                <a:solidFill>
                  <a:srgbClr val="3C5CCF"/>
                </a:solidFill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F15A-21E6-43CB-BFC3-36CCFAC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A9FAC-4F97-4F30-96AB-BF8398E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C5CCF"/>
                </a:solidFill>
              </a:defRPr>
            </a:pPr>
            <a:r>
              <a:rPr sz="1875" b="1">
                <a:solidFill>
                  <a:srgbClr val="3C5CCF"/>
                </a:solidFill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F19F8-9D51-4075-B444-5305768B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8EC76-8878-4468-B1E4-8229387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C5CCF"/>
                </a:solidFill>
              </a:defRPr>
            </a:pPr>
            <a:r>
              <a:rPr sz="1875" b="1">
                <a:solidFill>
                  <a:srgbClr val="3C5CCF"/>
                </a:solidFill>
              </a:rPr>
              <a:t>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61E77-85FD-4ED3-AF1A-86355FC1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Todos intentan usar el mismo recurso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224E8-0ACC-4807-A850-7062581A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95B"/>
                </a:solidFill>
              </a:defRPr>
            </a:pPr>
            <a:r>
              <a:rPr sz="1875" b="1">
                <a:solidFill>
                  <a:srgbClr val="15295B"/>
                </a:solidFill>
              </a:rPr>
              <a:t>Con identificador o prioridad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DA3C6-FB5D-43B5-810F-B4438FF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C76A2-F00F-44E1-8CE2-C42A330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0BAD8-1CAA-49CE-84B0-F268A623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0F89F-B325-429F-90C8-50FBAAE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295B"/>
                </a:solidFill>
              </a:defRPr>
            </a:pPr>
            <a:r>
              <a:rPr sz="1800" b="1">
                <a:solidFill>
                  <a:srgbClr val="15295B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F662E-36A0-4F74-BC9F-195D9ADD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38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BCA4A-732B-429E-B4AE-4339A8C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622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295B"/>
                </a:solidFill>
              </a:defRPr>
            </a:pPr>
            <a:r>
              <a:rPr sz="1800" b="1">
                <a:solidFill>
                  <a:srgbClr val="15295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3EC95-0B74-473E-AB28-803B7C5E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Un participante obtiene el turno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948A4-DB0A-4DD7-8869-92B813C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C5CCF"/>
                </a:solidFill>
              </a:defRPr>
            </a:pPr>
            <a:r>
              <a:rPr sz="1800" b="1">
                <a:solidFill>
                  <a:srgbClr val="3C5CCF"/>
                </a:solidFill>
              </a:rPr>
              <a:t>Ejemplos: elección de líder, bloqueos, IDs únicos y prioridades</a:t>
            </a:r>
          </a:p>
        </p:txBody>
      </p:sp>
    </p:spTree>
    <p:extLst>
      <p:ext uri="{BB962C8B-B14F-4D97-AF65-F5344CB8AC3E}">
        <p14:creationId xmlns:p14="http://schemas.microsoft.com/office/powerpoint/2010/main" val="1886575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481D0-49EE-47B8-884D-4541D22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5BC90-67C6-438A-8474-7E07714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Cluster, balanceo y sistema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065C4-64A9-4E95-8EB9-1D5CA2C4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007B6-76FE-4018-90F9-BA8FBD7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35015-CAE3-4551-920E-C11039E1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295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C7F39-7517-48B8-86AE-933A198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Solicitudes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57BC-8085-41DD-9A8B-4976D328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2381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28873-D64B-4089-B4BA-DC2C851D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Balanceador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06513-AFE6-4264-B1B4-92903AB4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247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23805-BFC5-4155-9750-9B25E4DA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382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Instancia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2FB9C-31C6-40E2-A7FC-E40A39E9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47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7682D-91FF-440A-8B35-4E69867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Instancia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62207-8A37-4585-AFB8-134DD07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2476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3C379-88D5-488E-A0B1-A1C94EA8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195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Instancia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B826B-45E6-4F29-8497-2C7FEC0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095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9D305-2367-42F6-B16C-5DD1E4B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31355-0C82-459B-B758-FF9C4E69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2695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Cluster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EE1BC-1FCC-4D23-9886-34445C0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69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Varios nodos entregan capacidad y tolerancia a fallos.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73B46-E096-494D-87E1-F5FB10E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095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51F19-DACA-4815-9A9D-0150992E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DBD54-CB88-4617-8FAD-9CA2E723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67200"/>
            <a:ext cx="2695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1A7B8"/>
                </a:solidFill>
              </a:defRPr>
            </a:pPr>
            <a:r>
              <a:rPr sz="1650" b="1">
                <a:solidFill>
                  <a:srgbClr val="21A7B8"/>
                </a:solidFill>
              </a:rPr>
              <a:t>Balanceo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4A62B-06C0-476E-9AA6-8FAF7D87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48200"/>
            <a:ext cx="269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Envía tráfico solo a instancias saludables.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8C90C-4D03-48E0-82B7-E804C118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095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6997C-1707-4583-A22A-76DA495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9C5B3-36CC-4962-8D39-1431E58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2695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0B44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0B44D"/>
                </a:solidFill>
              </a:defRPr>
            </a:pPr>
            <a:r>
              <a:rPr sz="1650" b="1">
                <a:solidFill>
                  <a:srgbClr val="F0B44D"/>
                </a:solidFill>
              </a:rPr>
              <a:t>Sistema operativo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A94D27-0619-4AF5-8435-2D02C511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2695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Planifica procesos, hilos, memoria y dispositivos.</a:t>
            </a:r>
          </a:p>
        </p:txBody>
      </p:sp>
    </p:spTree>
    <p:extLst>
      <p:ext uri="{BB962C8B-B14F-4D97-AF65-F5344CB8AC3E}">
        <p14:creationId xmlns:p14="http://schemas.microsoft.com/office/powerpoint/2010/main" val="1189620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2C05B-DE7A-4FC0-A017-2B1EEB4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DAE73-7F22-4359-874A-DA42184A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Procesadores de tareas y Pub/Sub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5C757-34CB-4C14-AB03-5CBF199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05EA6-4B31-421A-91B4-3FD2C464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ABDF-72B5-42CF-9F99-DC6099D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59A7-AA9C-4BD2-AF98-A3323E03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API publica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706A-B775-45D4-BD2F-151B0498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28BE5-360A-4725-B5CA-5655173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FC28C-1154-4856-9FEB-AB5B479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74D63-2066-4A02-BA1F-7C871865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Suscripción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8E439-1231-4E9D-A162-CF796A0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D7680-B7E0-41F1-8DFC-16193B35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Trabajador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0D233-2CA6-4C9F-9808-FDD172EF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295B"/>
                </a:solidFill>
              </a:defRPr>
            </a:pPr>
            <a:r>
              <a:rPr sz="1725" b="1">
                <a:solidFill>
                  <a:srgbClr val="15295B"/>
                </a:solidFill>
              </a:rPr>
              <a:t>El productor no necesita conocer al consumidor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6F0A7-2929-40B6-8F1A-F418B50D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7306B-DA38-4517-81EA-DB00F10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48125"/>
            <a:ext cx="784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La cola absorbe picos de trabajo.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E5583-03FB-4F94-97BC-EF9479F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33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04ACE-A241-4BA5-B069-E2CDA3A1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19625"/>
            <a:ext cx="784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El consumidor confirma o reintenta mensajes.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708A3-9AC2-458D-BBEE-4EF31D2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0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12A40-A157-4901-B91A-9E04C2F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91125"/>
            <a:ext cx="784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Los trabajos deben tolerar duplicados.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D4721-2E07-4AB9-A85C-E4F36FB8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C5CCF"/>
                </a:solidFill>
              </a:defRPr>
            </a:pPr>
            <a:r>
              <a:rPr sz="1500" b="1">
                <a:solidFill>
                  <a:srgbClr val="3C5CCF"/>
                </a:solidFill>
              </a:rPr>
              <a:t>Extensión de UserFlow: ArchivoSubido activa auditoría o miniaturas</a:t>
            </a:r>
          </a:p>
        </p:txBody>
      </p:sp>
    </p:spTree>
    <p:extLst>
      <p:ext uri="{BB962C8B-B14F-4D97-AF65-F5344CB8AC3E}">
        <p14:creationId xmlns:p14="http://schemas.microsoft.com/office/powerpoint/2010/main" val="140502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FE916-6B29-4A8E-AF5F-CD1EC44E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6616E-A3DB-4D7E-9EDB-5A2246A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Nexus y repositorios de imágenes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0D6BA-7701-4D9E-BDA2-51FDE14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A0F81-815A-4120-8A02-56DA6E5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9D1BA-3C8B-4F0D-ABE0-B80EF122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412A9-7EFA-4B6C-A5D0-103A4EC2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36E7B-E02B-443B-B678-5E6D9CDE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Nexus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69839-BF87-4924-B861-A21BC28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Centraliza paquetes, dependencias y artefactos con permisos y versiones.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B224A-8289-488F-85EE-28A86F0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42B7A-6B3C-43BC-99F6-B0A8305A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3E312-A6D8-4239-8829-D5E1AFF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1A7B8"/>
                </a:solidFill>
              </a:defRPr>
            </a:pPr>
            <a:r>
              <a:rPr sz="1650" b="1">
                <a:solidFill>
                  <a:srgbClr val="21A7B8"/>
                </a:solidFill>
              </a:rPr>
              <a:t>Artifact Registry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3B079-C825-4CB1-8588-358A5F9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Conserva la imagen OCI/Docker que Cloud Run ejecuta.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2D544-1D55-4CA7-9E5C-D726ACA9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Dockerfile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8BA0-7A0B-407E-821B-3A5592AF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7B8DF-1A42-4696-96A7-32E849EF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71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Cloud 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12D03-C856-413C-9B6E-BE15ADDE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247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45304-E882-4CF5-B109-A11832C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Artifact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3A625-3917-4837-A581-84BD323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83D13-884E-48B6-80C8-95D26BF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Cloud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8B6A3-D77F-4142-B86D-A54A7D4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5B6475"/>
                </a:solidFill>
              </a:defRPr>
            </a:pPr>
            <a:r>
              <a:rPr sz="1650" b="1">
                <a:solidFill>
                  <a:srgbClr val="5B6475"/>
                </a:solidFill>
              </a:rPr>
              <a:t>Las etiquetas facilitan uso; el digest identifica una versión inmutable</a:t>
            </a:r>
          </a:p>
        </p:txBody>
      </p:sp>
    </p:spTree>
    <p:extLst>
      <p:ext uri="{BB962C8B-B14F-4D97-AF65-F5344CB8AC3E}">
        <p14:creationId xmlns:p14="http://schemas.microsoft.com/office/powerpoint/2010/main" val="801117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DF35C-DB14-44EF-8063-42742790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A8920-DA81-4EB7-881E-3DED145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GitHub Actions automatiza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32E09-EE6A-45B4-B60D-B1357FC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7A911-6B6D-41C7-9197-EF256B34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13D0-147E-4F97-AA01-D4BB3D21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C0B41-DA96-4333-B944-EE7A97CB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Push a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1F484-B579-4C1E-AE24-C1B0E86D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825F4-26AA-424C-9C6E-1381858E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Build y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CB3E0-DBFC-4750-9834-1E0EADBB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CAFAB-6621-4297-9C09-74AC0E4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Cloud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24F95-9390-4829-BD2B-3FDFEA3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B610E-3FA6-4568-A7D2-3EB95504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Terraform apply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86B63-E8DF-4C47-8C9F-E09F5FB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097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E66D1-B508-4AC8-9433-AFBF3BEC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D5210-4B07-4C22-945D-A8D3CC25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1C5EC-17BC-49A8-9ED7-54BC51D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DD48B-0708-4332-87A9-E9DE3889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Seguridad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F7D69-7A1C-449C-B5BA-75C41A2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Workload Identity Federation entrega credenciales temporales.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4ADD5-C349-4BEF-A24F-BA1AFEFD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572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560D6-F114-44D4-ADE0-0CA9B30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69C107-4A32-4E73-B695-E66381F1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A36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A36B"/>
                </a:solidFill>
              </a:defRPr>
            </a:pPr>
            <a:r>
              <a:rPr sz="1650" b="1">
                <a:solidFill>
                  <a:srgbClr val="2FA36B"/>
                </a:solidFill>
              </a:rPr>
              <a:t>Evidencia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9CA0A-91E7-4191-B5DE-93496E9D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4171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Una ejecución verde demuestra un proceso reproducible.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C11BB-47A6-4057-815C-FA0885C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B6475"/>
                </a:solidFill>
              </a:defRPr>
            </a:pPr>
            <a:r>
              <a:rPr sz="1500" b="1">
                <a:solidFill>
                  <a:srgbClr val="5B6475"/>
                </a:solidFill>
              </a:rPr>
              <a:t>Secretos: GCP_PROJECT_ID · GCP_REGION · JWT_SECRET</a:t>
            </a:r>
          </a:p>
        </p:txBody>
      </p:sp>
    </p:spTree>
    <p:extLst>
      <p:ext uri="{BB962C8B-B14F-4D97-AF65-F5344CB8AC3E}">
        <p14:creationId xmlns:p14="http://schemas.microsoft.com/office/powerpoint/2010/main" val="107367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2FA4B-9458-4327-8307-50EB6E6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D2624-1143-4767-BDE8-B7068B99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Arquitectura serverless de UserFlow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43565-5C39-4259-AC99-224EB993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7B4F6-3107-40AE-8DB2-135FD125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0509F-B923-42AF-8ACC-134F4E8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295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C4608-5D70-467E-87AB-2E80AD3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Flutter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DB1DF-8C39-4FA7-BA38-AD36DF89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6AFC7-93D4-4FB3-8D1F-48A23D6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F21E9-7D0F-42F7-B166-76E25735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8B3A7-3A37-4E2F-88F2-B9242AE5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Cloud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BB060-C380-4328-B7DB-A4696F9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63684-5331-4996-A5AC-6386001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Cloud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B07BE-AF49-4336-8F33-0BD11368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0025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BAD1C-126C-47F4-A17F-9ABC7885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09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8602B-E9EB-4A52-A700-2679F489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06F1D-9146-4AD6-9FAD-41BC2A9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1475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JWT identifica al usuario en endpoints protegidos.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DEFF8-8E78-4B87-B89A-F9046655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48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C5E7B-D729-48F0-AB29-7ABABAB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338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Secret Manager inyecta credenciales en ejecución.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28ABF-86A4-42F5-80F1-8C8930AA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67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D1E83-9BFB-4019-99D6-20BA87C1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Cloud Logging centraliza eventos del contenedor.</a:t>
            </a:r>
          </a:p>
        </p:txBody>
      </p:sp>
    </p:spTree>
    <p:extLst>
      <p:ext uri="{BB962C8B-B14F-4D97-AF65-F5344CB8AC3E}">
        <p14:creationId xmlns:p14="http://schemas.microsoft.com/office/powerpoint/2010/main" val="8102953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9DCE5-DA38-4AAF-9C28-F739BDC6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C1342-A0A7-4779-8583-B81E67ED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Concurrencia en Flutter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621A9-7D9E-4807-9997-4CFEAE5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1F175-45D3-4FC8-9A89-210BB5C0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4702B-C984-4DE6-9994-917EC3E3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95B"/>
                </a:solidFill>
              </a:defRPr>
            </a:pPr>
            <a:r>
              <a:rPr sz="1875" b="1">
                <a:solidFill>
                  <a:srgbClr val="15295B"/>
                </a:solidFill>
              </a:rPr>
              <a:t>Secuencial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E6F5D-1C5B-4C1D-B5F8-6DCE13F5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DBEA-9757-4F98-8456-7935780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A85F2-2812-4316-817D-73CABA2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6A906-AAB0-4D06-B61C-00B4521D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7A51D-D326-46B2-896E-E8CE301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9EF1E-0F85-47DE-9270-466CCA1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295B"/>
                </a:solidFill>
              </a:defRPr>
            </a:pPr>
            <a:r>
              <a:rPr sz="1575" b="1">
                <a:solidFill>
                  <a:srgbClr val="15295B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51C0A-A017-489C-A385-FFEF3FF4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Cada tarea espera la anterior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5C066-7692-47AB-9440-15679AB3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95B"/>
                </a:solidFill>
              </a:defRPr>
            </a:pPr>
            <a:r>
              <a:rPr sz="1875" b="1">
                <a:solidFill>
                  <a:srgbClr val="15295B"/>
                </a:solidFill>
              </a:rPr>
              <a:t>Concurrente con Future.wait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C0B4D-61E3-4DBA-9C2B-9189FE2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A693-39F6-48D4-BA37-F10BA732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77E67-FDE0-4258-B282-26C924AA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17FDC-FA50-4DFB-9D75-3C26222B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4BA9C-CF57-408E-A860-4A656C38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38375"/>
            <a:ext cx="904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12A55-A159-4C40-B832-7A5F6C2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526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3D725-CDED-43CE-87F9-C0467D5E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Las tareas independientes progresan juntas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6B704-44A3-4FF7-B976-460B2E78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C5CCF"/>
                </a:solidFill>
              </a:defRPr>
            </a:pPr>
            <a:r>
              <a:rPr sz="1800" b="1">
                <a:solidFill>
                  <a:srgbClr val="3C5CCF"/>
                </a:solidFill>
              </a:rPr>
              <a:t>Medición: tiempo inicial, tiempo final y porcentaje de mejora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3AF31-41A1-4E4C-9334-2DDAE979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475"/>
                </a:solidFill>
              </a:defRPr>
            </a:pPr>
            <a:r>
              <a:rPr sz="1500" b="0">
                <a:solidFill>
                  <a:srgbClr val="5B6475"/>
                </a:solidFill>
              </a:rPr>
              <a:t>La red y el servidor pueden limitar el resultado</a:t>
            </a:r>
          </a:p>
        </p:txBody>
      </p:sp>
    </p:spTree>
    <p:extLst>
      <p:ext uri="{BB962C8B-B14F-4D97-AF65-F5344CB8AC3E}">
        <p14:creationId xmlns:p14="http://schemas.microsoft.com/office/powerpoint/2010/main" val="2028696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B06660-E603-4180-9A06-52310032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FEE6-8B85-4448-9F5E-08BD92C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Demostración en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48719-D358-472F-A433-BB4A4C2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0A335-49BF-40D6-A1D9-76CDD2D1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5FE6B-7BA8-444B-8853-B446FDB1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95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82741-92F4-4CFF-8993-431B1E0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81125"/>
            <a:ext cx="965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1. Abrir la ejecución verde de GitHub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6AC3D-B048-4C7F-BBE7-2C92EDF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4AC87-D285-42D7-9DF4-671AEF0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24075"/>
            <a:ext cx="965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2. Mostrar Cloud Run, API Gateway, Cloud SQL y Artifact Registry.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67657-36DF-4444-96DC-EAF8E24B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A1FAB-43EA-42A9-884E-F11A2EE8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67025"/>
            <a:ext cx="965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3. Ejecutar Flutter e iniciar sesión.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F8CE4-92CB-42BF-A53B-531BD905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35D3-A943-406C-93CF-B12A579B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9975"/>
            <a:ext cx="965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4. Crear, editar y eliminar un usuario.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E92AB-27CD-4D66-80A4-31B371BE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0C2A2-8DD2-493F-9EB7-8AFABD2D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52925"/>
            <a:ext cx="965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5. Subir archivos y comparar modos secuencial y concurrente.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ED954-EE2D-49CA-B159-DF204845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191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29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904A8-062E-4B7B-897A-F2E7605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URL: userflow-gateway-dy9hl9mi.uc.gateway.dev</a:t>
            </a:r>
          </a:p>
        </p:txBody>
      </p:sp>
    </p:spTree>
    <p:extLst>
      <p:ext uri="{BB962C8B-B14F-4D97-AF65-F5344CB8AC3E}">
        <p14:creationId xmlns:p14="http://schemas.microsoft.com/office/powerpoint/2010/main" val="791375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7BF8E-6DA3-4AE0-8CD9-58BE358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4837A-CBAD-4940-9D27-EF54D2A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95B"/>
                </a:solidFill>
              </a:defRPr>
            </a:pPr>
            <a:r>
              <a:rPr sz="2550" b="1">
                <a:solidFill>
                  <a:srgbClr val="15295B"/>
                </a:solidFill>
              </a:rPr>
              <a:t>Ideas principales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60D08-B321-4D5B-A52F-B2AFAE7E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72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3C5CCF"/>
                </a:solidFill>
              </a:defRPr>
            </a:pPr>
            <a:r>
              <a:rPr sz="1200" b="1">
                <a:solidFill>
                  <a:srgbClr val="3C5CC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9AF7C-24FC-4A2E-A674-7F5B1AE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E3CB6-121C-488D-9B0A-250BF14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41CC0-BF4D-4501-822B-16FA242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CC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4A0-28DF-4662-BC8E-02A2414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43075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3C5CC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C5CCF"/>
                </a:solidFill>
              </a:defRPr>
            </a:pPr>
            <a:r>
              <a:rPr sz="1650" b="1">
                <a:solidFill>
                  <a:srgbClr val="3C5CCF"/>
                </a:solidFill>
              </a:rPr>
              <a:t>Repartir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67C3D-5838-4A3E-8607-10F4F1E2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Divide y vencerás y particionamiento distribuyen el trabajo.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18D24-025B-405F-8803-D5AF4720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E9A95-6C18-46F1-9BA7-3973C90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A7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9FFE8-ECF6-4AA3-BFAB-34DC66F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43075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1A7B8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1A7B8"/>
                </a:solidFill>
              </a:defRPr>
            </a:pPr>
            <a:r>
              <a:rPr sz="1650" b="1">
                <a:solidFill>
                  <a:srgbClr val="21A7B8"/>
                </a:solidFill>
              </a:rPr>
              <a:t>Coordinar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826B1-8A7C-4768-A4C2-509F7EA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24075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Symmetry Breaking, colas y balanceo evitan conflictos.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BE5F8-B405-48A8-89E2-5B1A1C40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010B4-EB1F-4451-BC86-87C79CB9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3F915-9245-4AA9-B169-5949938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F0B44D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0B44D"/>
                </a:solidFill>
              </a:defRPr>
            </a:pPr>
            <a:r>
              <a:rPr sz="1650" b="1">
                <a:solidFill>
                  <a:srgbClr val="F0B44D"/>
                </a:solidFill>
              </a:rPr>
              <a:t>Automatizar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E908F-A7F6-43B0-838C-AE36FC3E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Repositorios y Actions vuelven reproducible el despliegue.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D0A8E-DCD4-48F8-9A14-D33AF952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70CE0-072B-452C-B619-BD52813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3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CC69A-C34A-4737-95B2-3749A033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FA36B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FA36B"/>
                </a:solidFill>
              </a:defRPr>
            </a:pPr>
            <a:r>
              <a:rPr sz="1650" b="1">
                <a:solidFill>
                  <a:srgbClr val="2FA36B"/>
                </a:solidFill>
              </a:rPr>
              <a:t>Medir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DB930-7517-4D08-90F8-CD56750A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64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El tiempo observado confirma si la concurrencia aporta mejora.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32A8D-D5A2-4A6D-B70A-E830F20A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5295B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95B"/>
                </a:solidFill>
              </a:defRPr>
            </a:pPr>
            <a:r>
              <a:rPr sz="2250" b="1">
                <a:solidFill>
                  <a:srgbClr val="15295B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18609476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2026-10-10T05:22:26.2330000Z</dcterms:created>
  <dcterms:modified xsi:type="dcterms:W3CDTF">2026-10-10T05:22:26.2330000Z</dcterms:modified>
</coreProperties>
</file>